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7BA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IIT MADRAS  ·  ASHOK LEYLAND INTERNSHIP  ·  2025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5943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DFMEA</a:t>
            </a:r>
            <a:endParaRPr lang="en-US" sz="4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365760" y="30632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Automating Failure Mode &amp; Effects Analysis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Large Language Models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583680" y="914400"/>
            <a:ext cx="2377440" cy="3291840"/>
          </a:xfrm>
          <a:prstGeom prst="rect">
            <a:avLst/>
          </a:prstGeom>
          <a:solidFill>
            <a:srgbClr val="1A3566"/>
          </a:solidFill>
          <a:ln w="12700">
            <a:solidFill>
              <a:srgbClr val="1A356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20840" y="10515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Define Elements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720840" y="134416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A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B-Diagram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720840" y="163677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A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IFMEA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20840" y="192938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A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Functions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720840" y="222199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A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P-Diagram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720840" y="251460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A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Connections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720840" y="2807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A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Failure Modes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20840" y="309981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A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Causes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720840" y="339242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A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Risk Rating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720840" y="368503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A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Review &amp; Export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Revanth  |  Engineering Design  |  ED22B063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005840"/>
            <a:ext cx="40233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005840"/>
            <a:ext cx="64008" cy="868680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9728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5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10972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48132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manual DFMEA is a bottleneck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40233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011680"/>
            <a:ext cx="64008" cy="868680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10312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5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51560" y="210312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DFMEA?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48716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Standards, structure, and challenges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3017520"/>
            <a:ext cx="40233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3017520"/>
            <a:ext cx="64008" cy="868680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1089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5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51560" y="31089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Architecture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349300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design overview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2920" y="4023360"/>
            <a:ext cx="40233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023360"/>
            <a:ext cx="64008" cy="868680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11480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5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51560" y="411480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10-Step Wizard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" y="449884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end-to-end generation workflow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800600" y="1005840"/>
            <a:ext cx="40233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00600" y="1005840"/>
            <a:ext cx="64008" cy="868680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37760" y="109728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5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349240" y="10972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IFMEA Integration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937760" y="148132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failure analysis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800600" y="2011680"/>
            <a:ext cx="40233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00600" y="2011680"/>
            <a:ext cx="64008" cy="868680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37760" y="210312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5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349240" y="210312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at Each Step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937760" y="248716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prompting strategy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800600" y="3017520"/>
            <a:ext cx="40233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00600" y="3017520"/>
            <a:ext cx="64008" cy="868680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37760" y="31089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5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349240" y="31089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Cases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937760" y="349300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Reusing existing DFMEAs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800600" y="4023360"/>
            <a:ext cx="40233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00600" y="4023360"/>
            <a:ext cx="64008" cy="868680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37760" y="411480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5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349240" y="411480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Results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937760" y="449884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and quality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02920" y="74980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this problem matter?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1143000"/>
            <a:ext cx="384048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⏱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97280" y="1188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Time-Intensive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150876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typical automotive DFMEA for one sub-system takes 2–4 weeks of engineer time with manual analysis of every failure mode.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11480" y="2377440"/>
            <a:ext cx="384048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⚠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97280" y="24231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Expert-Dependent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274320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depends heavily on individual knowledge. Different engineers produce inconsistent DFMEAs for the same component.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11480" y="3611880"/>
            <a:ext cx="384048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097280" y="3657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Burden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397764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design changes occur, the entire DFMEA must be reviewed and updated — a process that often gets skipped under schedule pressure.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26280" y="1143000"/>
            <a:ext cx="4206240" cy="3520440"/>
          </a:xfrm>
          <a:prstGeom prst="rect">
            <a:avLst/>
          </a:prstGeom>
          <a:solidFill>
            <a:srgbClr val="0F2044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709160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09160" y="175564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 reason about engineering systems — reading function statements, understanding failure mechanisms, and applying AIAG-VDA methodology.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09160" y="2670048"/>
            <a:ext cx="182880" cy="18288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83480" y="26334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10× faster DFMEA generation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09160" y="3054096"/>
            <a:ext cx="182880" cy="18288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83480" y="3017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methodology every time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09160" y="3438144"/>
            <a:ext cx="182880" cy="18288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83480" y="34015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update when design changes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09160" y="3822192"/>
            <a:ext cx="182880" cy="18288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83480" y="378561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factors → causes automatically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09160" y="4206240"/>
            <a:ext cx="182880" cy="18288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83480" y="41696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IFMEA generated from B-diagram connections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DFMEA — The Core Idea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Asking what could go wrong? — systematically, for every function, before anything is built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078992"/>
            <a:ext cx="8321040" cy="868680"/>
          </a:xfrm>
          <a:prstGeom prst="rect">
            <a:avLst/>
          </a:prstGeom>
          <a:solidFill>
            <a:srgbClr val="0F2044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152144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function this component must perform —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426464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could it fail to perform that function, what would cause it, and what would happen?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2103120"/>
            <a:ext cx="2788920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2130552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Failure Mode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11480" y="2606040"/>
            <a:ext cx="2788920" cy="20848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715768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specific way a function fails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118104"/>
            <a:ext cx="2487168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20040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8640" y="3383280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Axle does not transfer torque to wheel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3785616"/>
            <a:ext cx="2487168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858768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why it fails — just what the failure looks like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355848" y="2103120"/>
            <a:ext cx="2788920" cy="502920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55848" y="2130552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 Effect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355848" y="2606040"/>
            <a:ext cx="2788920" cy="20848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93008" y="2715768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failure causes to the next higher system or the customer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493008" y="3118104"/>
            <a:ext cx="2487168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93008" y="320040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5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493008" y="3383280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cannot accelerate — loss of mobility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493008" y="3785616"/>
            <a:ext cx="2487168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93008" y="3858768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Rated by Severity (S) — how bad is this for the customer?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300216" y="2103120"/>
            <a:ext cx="2788920" cy="5029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00216" y="2130552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Cause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300216" y="2606040"/>
            <a:ext cx="2788920" cy="20848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37376" y="2715768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root mechanism inside the component that allows the failure to occur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37376" y="3118104"/>
            <a:ext cx="2487168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37376" y="320040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437376" y="3383280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Spline coupling corroded due to water ingress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37376" y="3785616"/>
            <a:ext cx="2487168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37376" y="3858768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Rated by Occurrence (O) and Detection (D)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11480" y="4754880"/>
            <a:ext cx="8321040" cy="347472"/>
          </a:xfrm>
          <a:prstGeom prst="rect">
            <a:avLst/>
          </a:prstGeom>
          <a:solidFill>
            <a:srgbClr val="DBEAFE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" y="480060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FMEA family: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691640" y="4773168"/>
            <a:ext cx="1737360" cy="25603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691640" y="479145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FMEA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566160" y="4773168"/>
            <a:ext cx="1737360" cy="256032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66160" y="479145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DFMEA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440680" y="4773168"/>
            <a:ext cx="1737360" cy="25603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40680" y="479145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PFMEA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315200" y="4773168"/>
            <a:ext cx="1737360" cy="25603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15200" y="479145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IFMEA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DFMEA?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02920" y="74980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Failure Mode &amp; Effects Analysis  ·  AIAG-VDA 2019 Standard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377440" cy="10058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2984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wrong?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834640" y="1737360"/>
            <a:ext cx="457200" cy="0"/>
          </a:xfrm>
          <a:prstGeom prst="line">
            <a:avLst/>
          </a:prstGeom>
          <a:noFill/>
          <a:ln w="25400">
            <a:solidFill>
              <a:srgbClr val="0F20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91840" y="1234440"/>
            <a:ext cx="2377440" cy="1005840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0" y="12984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91840" y="17373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69280" y="1737360"/>
            <a:ext cx="457200" cy="0"/>
          </a:xfrm>
          <a:prstGeom prst="line">
            <a:avLst/>
          </a:prstGeom>
          <a:noFill/>
          <a:ln w="25400">
            <a:solidFill>
              <a:srgbClr val="0F20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26480" y="1234440"/>
            <a:ext cx="2377440" cy="10058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12984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26480" y="17373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2514600"/>
            <a:ext cx="8321040" cy="1005840"/>
          </a:xfrm>
          <a:prstGeom prst="rect">
            <a:avLst/>
          </a:prstGeom>
          <a:solidFill>
            <a:srgbClr val="DBEAFE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6334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— Severity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48640" y="29077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bad is the effect?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(no effect) → 10 (hazardous)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514600" y="2633472"/>
            <a:ext cx="0" cy="82296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51760" y="26334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— Occurrence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651760" y="29077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does cause happen?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(unlikely) → 10 (certain)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17720" y="2633472"/>
            <a:ext cx="0" cy="82296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26334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— Detection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754880" y="29077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we detect before customer?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(certain) → 10 (impossible)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20840" y="2633472"/>
            <a:ext cx="0" cy="82296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0" y="26334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RPN = S × O × D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858000" y="29077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Priority Number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= more critical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1480" y="3703320"/>
            <a:ext cx="8321040" cy="1143000"/>
          </a:xfrm>
          <a:prstGeom prst="rect">
            <a:avLst/>
          </a:prstGeom>
          <a:solidFill>
            <a:srgbClr val="0F2044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3822192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Challenge: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94360" y="416052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DFMEA for an axle system produces 300+ rows, each requiring engineering knowledge about failure mechanisms, noise factors, effects, and quantitative risk ratings — all today done manually.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94360" y="382219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generator automates this entire chain.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5603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DFMEA Done in Industry?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365760" y="76809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BA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systematic, mandatory quality process in automotive, aerospace, and defence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7472" y="1143000"/>
            <a:ext cx="4480560" cy="841248"/>
          </a:xfrm>
          <a:prstGeom prst="rect">
            <a:avLst/>
          </a:prstGeom>
          <a:solidFill>
            <a:srgbClr val="132657"/>
          </a:solidFill>
          <a:ln w="6350">
            <a:solidFill>
              <a:srgbClr val="1E3A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1280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🛡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60120" y="12344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Liability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0120" y="1508760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Automotive OEMs are legally obligated to demonstrate that potential failure modes were analysed before production. A missing DFMEA = no defence in product liability litigation.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47472" y="2103120"/>
            <a:ext cx="4480560" cy="841248"/>
          </a:xfrm>
          <a:prstGeom prst="rect">
            <a:avLst/>
          </a:prstGeom>
          <a:solidFill>
            <a:srgbClr val="132657"/>
          </a:solidFill>
          <a:ln w="6350">
            <a:solidFill>
              <a:srgbClr val="1E3A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2240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60120" y="2194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&amp; Customer Mandate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60120" y="2468880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IATF 16949, AIAG-VDA FMEA handbook (2019), and customer-specific requirements (Ford, GM, Stellantis) make DFMEA a contractual deliverable for every new part.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47472" y="3063240"/>
            <a:ext cx="4480560" cy="841248"/>
          </a:xfrm>
          <a:prstGeom prst="rect">
            <a:avLst/>
          </a:prstGeom>
          <a:solidFill>
            <a:srgbClr val="132657"/>
          </a:solidFill>
          <a:ln w="6350">
            <a:solidFill>
              <a:srgbClr val="1E3A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3200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🔧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31546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Validation &amp; Sign-off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60120" y="3429000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sign-off gates (DVP, PPAP, SOP) cannot be passed without a reviewed and approved DFMEA. No DFMEA = no production release.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47472" y="4023360"/>
            <a:ext cx="4480560" cy="841248"/>
          </a:xfrm>
          <a:prstGeom prst="rect">
            <a:avLst/>
          </a:prstGeom>
          <a:solidFill>
            <a:srgbClr val="132657"/>
          </a:solidFill>
          <a:ln w="6350">
            <a:solidFill>
              <a:srgbClr val="1E3A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4160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💰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60120" y="4114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Poor Quality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60120" y="4389120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field failure found after launch costs 10–1000× more to fix than one caught in design. DFMEA identifies high-RPN risks early so countermeasures are built in, not bolted on.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102352" y="1115568"/>
            <a:ext cx="3703320" cy="3749040"/>
          </a:xfrm>
          <a:prstGeom prst="rect">
            <a:avLst/>
          </a:prstGeom>
          <a:solidFill>
            <a:srgbClr val="0B1A3D"/>
          </a:solidFill>
          <a:ln w="6350">
            <a:solidFill>
              <a:srgbClr val="1E3A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30368" y="1207008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A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DFMEA sits in product development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14416" y="1920240"/>
            <a:ext cx="0" cy="274320"/>
          </a:xfrm>
          <a:prstGeom prst="line">
            <a:avLst/>
          </a:prstGeom>
          <a:noFill/>
          <a:ln w="19050">
            <a:solidFill>
              <a:srgbClr val="2A4A8A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376672" y="1682496"/>
            <a:ext cx="237744" cy="237744"/>
          </a:xfrm>
          <a:prstGeom prst="ellipse">
            <a:avLst/>
          </a:prstGeom>
          <a:solidFill>
            <a:srgbClr val="1E3A7A"/>
          </a:solidFill>
          <a:ln w="19050">
            <a:solidFill>
              <a:srgbClr val="2A4A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42432" y="16824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A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42432" y="190195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DFMEA — identify critical functions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14416" y="2450592"/>
            <a:ext cx="0" cy="274320"/>
          </a:xfrm>
          <a:prstGeom prst="line">
            <a:avLst/>
          </a:prstGeom>
          <a:noFill/>
          <a:ln w="19050">
            <a:solidFill>
              <a:srgbClr val="3B82F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76672" y="2212848"/>
            <a:ext cx="237744" cy="237744"/>
          </a:xfrm>
          <a:prstGeom prst="ellipse">
            <a:avLst/>
          </a:prstGeom>
          <a:solidFill>
            <a:srgbClr val="3B82F6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2212848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(DFMEA)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742432" y="24323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Component-level analysis — RPN prioritisation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614416" y="2980944"/>
            <a:ext cx="0" cy="274320"/>
          </a:xfrm>
          <a:prstGeom prst="line">
            <a:avLst/>
          </a:prstGeom>
          <a:noFill/>
          <a:ln w="19050">
            <a:solidFill>
              <a:srgbClr val="2A4A8A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5376672" y="2743200"/>
            <a:ext cx="237744" cy="237744"/>
          </a:xfrm>
          <a:prstGeom prst="ellipse">
            <a:avLst/>
          </a:prstGeom>
          <a:solidFill>
            <a:srgbClr val="1E3A7A"/>
          </a:solidFill>
          <a:ln w="19050">
            <a:solidFill>
              <a:srgbClr val="2A4A8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274320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A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742432" y="296265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DVP tests validate high-RPN causes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614416" y="3511296"/>
            <a:ext cx="0" cy="274320"/>
          </a:xfrm>
          <a:prstGeom prst="line">
            <a:avLst/>
          </a:prstGeom>
          <a:noFill/>
          <a:ln w="19050">
            <a:solidFill>
              <a:srgbClr val="2A4A8A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5376672" y="3273552"/>
            <a:ext cx="237744" cy="237744"/>
          </a:xfrm>
          <a:prstGeom prst="ellipse">
            <a:avLst/>
          </a:prstGeom>
          <a:solidFill>
            <a:srgbClr val="1E3A7A"/>
          </a:solidFill>
          <a:ln w="19050">
            <a:solidFill>
              <a:srgbClr val="2A4A8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742432" y="3273552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A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742432" y="349300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DFMEA updated from test findings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614416" y="4041648"/>
            <a:ext cx="0" cy="274320"/>
          </a:xfrm>
          <a:prstGeom prst="line">
            <a:avLst/>
          </a:prstGeom>
          <a:noFill/>
          <a:ln w="19050">
            <a:solidFill>
              <a:srgbClr val="2A4A8A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5376672" y="3803904"/>
            <a:ext cx="237744" cy="237744"/>
          </a:xfrm>
          <a:prstGeom prst="ellipse">
            <a:avLst/>
          </a:prstGeom>
          <a:solidFill>
            <a:srgbClr val="1E3A7A"/>
          </a:solidFill>
          <a:ln w="19050">
            <a:solidFill>
              <a:srgbClr val="2A4A8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742432" y="3803904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A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PPAP / SOP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742432" y="402336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DFMEA submitted — production sign-off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6672" y="4334256"/>
            <a:ext cx="237744" cy="237744"/>
          </a:xfrm>
          <a:prstGeom prst="ellipse">
            <a:avLst/>
          </a:prstGeom>
          <a:solidFill>
            <a:srgbClr val="1E3A7A"/>
          </a:solidFill>
          <a:ln w="19050">
            <a:solidFill>
              <a:srgbClr val="2A4A8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42432" y="433425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A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service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742432" y="455371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data feeds back into next DFMEA revision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Architecture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11480" y="960120"/>
            <a:ext cx="2743200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05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11480" y="1463040"/>
            <a:ext cx="2743200" cy="457200"/>
          </a:xfrm>
          <a:prstGeom prst="rect">
            <a:avLst/>
          </a:prstGeom>
          <a:solidFill>
            <a:srgbClr val="DBEAFE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5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 ·  React  ·  Tailwind CSS  ·  shadcn/ui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965960"/>
            <a:ext cx="2743200" cy="2606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084832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952" y="202996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10-step wizard UI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560320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8952" y="250545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B-Diagram SVG (drag &amp; connect)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035808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" y="298094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Matrix (P/E/I/M, −2 to +2)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511296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8952" y="34564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RPN calculation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986784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8952" y="393192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/ XLSX export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37560" y="960120"/>
            <a:ext cx="2743200" cy="502920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37560" y="1005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337560" y="1463040"/>
            <a:ext cx="2743200" cy="457200"/>
          </a:xfrm>
          <a:prstGeom prst="rect">
            <a:avLst/>
          </a:prstGeom>
          <a:solidFill>
            <a:srgbClr val="DBEAFE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3756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5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 ·  Python  ·  9 specialised routers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337560" y="1965960"/>
            <a:ext cx="2743200" cy="2606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474720" y="2084832"/>
            <a:ext cx="128016" cy="128016"/>
          </a:xfrm>
          <a:prstGeom prst="ellipse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85032" y="202996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 generation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474720" y="2560320"/>
            <a:ext cx="128016" cy="128016"/>
          </a:xfrm>
          <a:prstGeom prst="ellipse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85032" y="250545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generation (per noise factor)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474720" y="3035808"/>
            <a:ext cx="128016" cy="128016"/>
          </a:xfrm>
          <a:prstGeom prst="ellipse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85032" y="298094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&amp; severity rating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474720" y="3511296"/>
            <a:ext cx="128016" cy="128016"/>
          </a:xfrm>
          <a:prstGeom prst="ellipse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85032" y="34564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IFMEA interface causes &amp; effects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474720" y="3986784"/>
            <a:ext cx="128016" cy="128016"/>
          </a:xfrm>
          <a:prstGeom prst="ellipse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85032" y="393192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Similarity-based connection suggest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263640" y="960120"/>
            <a:ext cx="2743200" cy="5029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63640" y="1005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Layer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263640" y="1463040"/>
            <a:ext cx="2743200" cy="457200"/>
          </a:xfrm>
          <a:prstGeom prst="rect">
            <a:avLst/>
          </a:prstGeom>
          <a:solidFill>
            <a:srgbClr val="DBEAFE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6364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5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  ·  Claude Sonnet  ·  ap-south-1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263640" y="1965960"/>
            <a:ext cx="2743200" cy="2606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400800" y="2084832"/>
            <a:ext cx="128016" cy="12801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11112" y="202996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JSON prompts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400800" y="2560320"/>
            <a:ext cx="128016" cy="12801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11112" y="250545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AIAG-VDA rubric injected into each prompt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0" y="3035808"/>
            <a:ext cx="128016" cy="12801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611112" y="298094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LLM call per (mode × noise × element)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400800" y="3511296"/>
            <a:ext cx="128016" cy="12801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11112" y="34564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S/O/D assignment endpoint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400800" y="3986784"/>
            <a:ext cx="128016" cy="12801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11112" y="393192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DFMEA xlsx parser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3172968" y="2926080"/>
            <a:ext cx="16459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099048" y="2926080"/>
            <a:ext cx="164592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10-Step Generation Wizard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74980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is guided by AI — the engineer reviews, edits, and approves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170432"/>
            <a:ext cx="438912" cy="438912"/>
          </a:xfrm>
          <a:prstGeom prst="ellipse">
            <a:avLst/>
          </a:prstGeom>
          <a:solidFill>
            <a:srgbClr val="1A56C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704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78408" y="115214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78408" y="13990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lower, focus &amp; higher-level elements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1792" y="1609344"/>
            <a:ext cx="0" cy="274320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411480" y="1956816"/>
            <a:ext cx="438912" cy="438912"/>
          </a:xfrm>
          <a:prstGeom prst="ellipse">
            <a:avLst/>
          </a:prstGeom>
          <a:solidFill>
            <a:srgbClr val="1A56C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9568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78408" y="193852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B-Diagram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78408" y="218541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connections (P/E/I/M) between elements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" y="2395728"/>
            <a:ext cx="0" cy="274320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411480" y="2743200"/>
            <a:ext cx="438912" cy="438912"/>
          </a:xfrm>
          <a:prstGeom prst="ellipse">
            <a:avLst/>
          </a:prstGeom>
          <a:solidFill>
            <a:srgbClr val="1A56C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78408" y="272491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IFMEA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78408" y="29718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failure analysis from connections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1792" y="3182112"/>
            <a:ext cx="0" cy="274320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411480" y="3529584"/>
            <a:ext cx="438912" cy="438912"/>
          </a:xfrm>
          <a:prstGeom prst="ellipse">
            <a:avLst/>
          </a:prstGeom>
          <a:solidFill>
            <a:srgbClr val="1A56C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35295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78408" y="351129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78408" y="375818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functions per element (auto-seeded)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1792" y="3968496"/>
            <a:ext cx="0" cy="274320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411480" y="4315968"/>
            <a:ext cx="438912" cy="438912"/>
          </a:xfrm>
          <a:prstGeom prst="ellipse">
            <a:avLst/>
          </a:prstGeom>
          <a:solidFill>
            <a:srgbClr val="1A56C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" y="43159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78408" y="42976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P-Diagram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78408" y="454456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factors driving all cause generation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00600" y="1170432"/>
            <a:ext cx="438912" cy="43891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0600" y="11704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367528" y="115214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367528" y="13990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lower→focus→higher functions (AI-suggested)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10912" y="1609344"/>
            <a:ext cx="0" cy="274320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4800600" y="1956816"/>
            <a:ext cx="438912" cy="43891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19568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367528" y="193852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367528" y="218541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modes per focus function (LLM)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10912" y="2395728"/>
            <a:ext cx="0" cy="274320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00600" y="2743200"/>
            <a:ext cx="438912" cy="43891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006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367528" y="272491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Causes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367528" y="29718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× lower fn × noise factor → 1 cause each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010912" y="3182112"/>
            <a:ext cx="0" cy="274320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00600" y="3529584"/>
            <a:ext cx="438912" cy="43891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00600" y="35295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367528" y="351129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Rating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5367528" y="375818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&amp; D ratings — manual or Auto-assign (LLM)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010912" y="3968496"/>
            <a:ext cx="0" cy="274320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4800600" y="4315968"/>
            <a:ext cx="438912" cy="43891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00600" y="43159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5367528" y="42976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Export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5367528" y="454456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edit, severity input, CSV/XLSX export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Cause Generation Works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74980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LLM call per (Failure Mode × Lower Function × Noise Factor) combination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2560320" cy="731520"/>
          </a:xfrm>
          <a:prstGeom prst="rect">
            <a:avLst/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2344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(from Step 6)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926080" y="1554480"/>
            <a:ext cx="640080" cy="0"/>
          </a:xfrm>
          <a:prstGeom prst="line">
            <a:avLst/>
          </a:prstGeom>
          <a:noFill/>
          <a:ln w="19050">
            <a:solidFill>
              <a:srgbClr val="1A56C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194560"/>
            <a:ext cx="2560320" cy="731520"/>
          </a:xfrm>
          <a:prstGeom prst="rect">
            <a:avLst/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224028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Function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(from Step 5)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926080" y="2560320"/>
            <a:ext cx="640080" cy="0"/>
          </a:xfrm>
          <a:prstGeom prst="line">
            <a:avLst/>
          </a:prstGeom>
          <a:noFill/>
          <a:ln w="19050">
            <a:solidFill>
              <a:srgbClr val="1A56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3200400"/>
            <a:ext cx="2560320" cy="731520"/>
          </a:xfrm>
          <a:prstGeom prst="rect">
            <a:avLst/>
          </a:prstGeom>
          <a:solidFill>
            <a:srgbClr val="DBEAFE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324612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Factor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(from P-Diagram)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926080" y="3566160"/>
            <a:ext cx="640080" cy="0"/>
          </a:xfrm>
          <a:prstGeom prst="line">
            <a:avLst/>
          </a:prstGeom>
          <a:noFill/>
          <a:ln w="19050">
            <a:solidFill>
              <a:srgbClr val="1A56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66160" y="1417320"/>
            <a:ext cx="2377440" cy="1691640"/>
          </a:xfrm>
          <a:prstGeom prst="rect">
            <a:avLst/>
          </a:prstGeom>
          <a:solidFill>
            <a:srgbClr val="0F2044"/>
          </a:solidFill>
          <a:ln w="19050">
            <a:solidFill>
              <a:srgbClr val="1A56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6616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566160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BA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BA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ap-south-1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566160" y="25420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AIAG-VDA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rubric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43600" y="2240280"/>
            <a:ext cx="640080" cy="0"/>
          </a:xfrm>
          <a:prstGeom prst="line">
            <a:avLst/>
          </a:prstGeom>
          <a:noFill/>
          <a:ln w="25400">
            <a:solidFill>
              <a:srgbClr val="05966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0" y="1828800"/>
            <a:ext cx="2148840" cy="822960"/>
          </a:xfrm>
          <a:prstGeom prst="rect">
            <a:avLst/>
          </a:prstGeom>
          <a:solidFill>
            <a:srgbClr val="F0FDF4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0" y="18745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specific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cause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3520440"/>
            <a:ext cx="8366760" cy="1325880"/>
          </a:xfrm>
          <a:prstGeom prst="rect">
            <a:avLst/>
          </a:prstGeom>
          <a:solidFill>
            <a:srgbClr val="0F2044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611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38587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Mode: "Axle system does not maintain suspension geometry"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41148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A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fn: "Resist deformation under load" (Suspension Link Assembly)  ·  Noise: "Customer Usage: Overloading 150%"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437083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Cause: "Suspension link assemblies break due to operating with overloading (150%), exceeding design yield strength"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IFMEA — Interface Failure Mode &amp; Effects Analysis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74980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Analyses failures IN the connection between elements — not inside either element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11480" y="1097280"/>
            <a:ext cx="3931920" cy="457200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4300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DFMEA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11480" y="1554480"/>
            <a:ext cx="393192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76072" y="1673352"/>
            <a:ext cx="128016" cy="128016"/>
          </a:xfrm>
          <a:prstGeom prst="ellipse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162763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 of focus element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76072" y="2084832"/>
            <a:ext cx="128016" cy="128016"/>
          </a:xfrm>
          <a:prstGeom prst="ellipse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03911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in lower element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76072" y="2496312"/>
            <a:ext cx="128016" cy="128016"/>
          </a:xfrm>
          <a:prstGeom prst="ellipse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245059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on higher element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" y="2907792"/>
            <a:ext cx="128016" cy="128016"/>
          </a:xfrm>
          <a:prstGeom prst="ellipse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86207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factors → causes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76072" y="3319272"/>
            <a:ext cx="128016" cy="128016"/>
          </a:xfrm>
          <a:prstGeom prst="ellipse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327355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S, O, D, RPN per cause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17720" y="1097280"/>
            <a:ext cx="3931920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17720" y="114300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IFMEA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617720" y="1554480"/>
            <a:ext cx="393192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82312" y="1673352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01768" y="162763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failure modes (reused)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82312" y="2084832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01768" y="203911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IN the interface itself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82312" y="2496312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01768" y="245059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on higher-level function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82312" y="2907792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01768" y="286207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factors → interface causes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82312" y="3319272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01768" y="327355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effect (S, O, D, RPN)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11480" y="4041648"/>
            <a:ext cx="8321040" cy="896112"/>
          </a:xfrm>
          <a:prstGeom prst="rect">
            <a:avLst/>
          </a:prstGeom>
          <a:solidFill>
            <a:srgbClr val="DBEAFE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" y="4114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IFMEA Phases: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94360" y="4370832"/>
            <a:ext cx="1920240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" y="43891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 Interface Matrix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(−2 to +2 per type)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514600" y="4599432"/>
            <a:ext cx="109728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24328" y="4370832"/>
            <a:ext cx="1920240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24328" y="43891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Set Up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(nominal transfer + modes)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544568" y="4599432"/>
            <a:ext cx="109728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654296" y="4370832"/>
            <a:ext cx="1920240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54296" y="43891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Causes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(noise × interface mech)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574536" y="4599432"/>
            <a:ext cx="109728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684264" y="4370832"/>
            <a:ext cx="1920240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84264" y="43891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Rate &amp; Build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(O, D → RPN)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Cases — Reusing Existing DFMEAs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74980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xlsx parser supports AIAG-VDA 2019 and legacy Ford/GM formats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84048" y="1097280"/>
            <a:ext cx="2743200" cy="43891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11338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New Design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84048" y="1554480"/>
            <a:ext cx="27432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3776" y="158191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Pre-filled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3776" y="184708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— blank slate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84048" y="3063240"/>
            <a:ext cx="2743200" cy="1600200"/>
          </a:xfrm>
          <a:prstGeom prst="rect">
            <a:avLst/>
          </a:prstGeom>
          <a:solidFill>
            <a:srgbClr val="F8FA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" y="309067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93776" y="335584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Define all elements &amp; functions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93776" y="367588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Draw B-Diagram connections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93776" y="39959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Enter noise factors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93776" y="431596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Generate everything from scratch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328416" y="1097280"/>
            <a:ext cx="2743200" cy="43891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28416" y="11338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New Use Case / Environment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328416" y="1554480"/>
            <a:ext cx="27432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438144" y="158191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Pre-filled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438144" y="184708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Element names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38144" y="21671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All functions (lower/focus/higher)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438144" y="248716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Old noise factors shown for reference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328416" y="3063240"/>
            <a:ext cx="2743200" cy="1600200"/>
          </a:xfrm>
          <a:prstGeom prst="rect">
            <a:avLst/>
          </a:prstGeom>
          <a:solidFill>
            <a:srgbClr val="F8FA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38144" y="309067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38144" y="335584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Enter new noise factors in P-Diagram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38144" y="367588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Draw B-Diagram connections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438144" y="39959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Regenerate causes for new conditions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72784" y="1097280"/>
            <a:ext cx="2743200" cy="438912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72784" y="11338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Design Change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72784" y="1554480"/>
            <a:ext cx="27432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382512" y="158191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5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Pre-filled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82512" y="184708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Element names &amp; all functions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382512" y="21671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Noise factors (environment unchanged)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382512" y="248716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B-Diagram boxes (no connections)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72784" y="3063240"/>
            <a:ext cx="2743200" cy="1600200"/>
          </a:xfrm>
          <a:prstGeom prst="rect">
            <a:avLst/>
          </a:prstGeom>
          <a:solidFill>
            <a:srgbClr val="F8FA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309067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82512" y="335584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Re-draw connections for new design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382512" y="367588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Re-generate failure modes &amp; causes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382512" y="39959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Re-rate risk for changed components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Outputs &amp; Results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11480" y="960120"/>
            <a:ext cx="196596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1051560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A5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300+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11480" y="170992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DFMEA rows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587752" y="960120"/>
            <a:ext cx="196596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587752" y="1051560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10×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2587752" y="170992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than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process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64024" y="960120"/>
            <a:ext cx="196596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64024" y="1051560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764024" y="170992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calls per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cause row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40296" y="960120"/>
            <a:ext cx="196596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940296" y="1051560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940296" y="170992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DFMEA formats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(import)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2468880"/>
            <a:ext cx="8321040" cy="960120"/>
          </a:xfrm>
          <a:prstGeom prst="rect">
            <a:avLst/>
          </a:prstGeom>
          <a:solidFill>
            <a:srgbClr val="DBEAFE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5420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tool produces: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281635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DFMEA table (S/O/D/RPN/AP per row)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94360" y="299923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IFMEA table (interface causes + higher-fn effect)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318211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Interface Matrix (P/E/I/M ratings)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800600" y="281635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B-Diagram SVG / PNG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00600" y="299923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XLSX export (AIAG-VDA template)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11480" y="3611880"/>
            <a:ext cx="8321040" cy="1252728"/>
          </a:xfrm>
          <a:prstGeom prst="rect">
            <a:avLst/>
          </a:prstGeom>
          <a:solidFill>
            <a:srgbClr val="0F2044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3703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94360" y="40050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Frontend: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691640" y="400507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14, React, Tailwind CSS, shadcn/ui, Framer Motion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94360" y="420624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691640" y="42062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FastAPI, Python, 9 specialised routers, LLM client wrapper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94360" y="440740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691640" y="4407408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 (Claude 3.5 Sonnet), ap-south-1, structured JSON prompts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4360" y="46085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Parsing: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691640" y="460857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xlsx parser — AIAG-VDA 2019 + legacy Ford/GM, LLM extraction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A56C4"/>
          </a:solidFill>
          <a:ln w="12700">
            <a:solidFill>
              <a:srgbClr val="1A56C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37160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365760" y="2423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3090672"/>
            <a:ext cx="146304" cy="146304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304495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AI-powered DFMEA &amp; IFMEA generator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3438144"/>
            <a:ext cx="146304" cy="146304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339242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10-step guided wizard — elements to risk rating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3785616"/>
            <a:ext cx="146304" cy="146304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373989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AIAG-VDA 2019 compliant output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4133088"/>
            <a:ext cx="146304" cy="146304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408736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import modes for reusing existing DFMEAs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4480560"/>
            <a:ext cx="146304" cy="146304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Sonnet on AWS Bedrock ap-south-1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475488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Revanth  ·  Engineering Design  ·  ED22B063  ·  IIT Madras  ·  Ashok Leyland Internship 2025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AI-Powered DFMEA Generator</dc:title>
  <dc:subject>PptxGenJS Presentation</dc:subject>
  <dc:creator>PptxGenJS</dc:creator>
  <cp:lastModifiedBy>PptxGenJS</cp:lastModifiedBy>
  <cp:revision>1</cp:revision>
  <dcterms:created xsi:type="dcterms:W3CDTF">2026-05-11T09:32:03Z</dcterms:created>
  <dcterms:modified xsi:type="dcterms:W3CDTF">2026-05-11T09:32:03Z</dcterms:modified>
</cp:coreProperties>
</file>