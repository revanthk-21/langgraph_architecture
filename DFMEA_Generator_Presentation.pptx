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 ·  ASHOK LEYLAND INTERNSHIP  ·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DFMEA</a:t>
            </a:r>
            <a:endParaRPr lang="en-US" sz="4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3063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Failure Mode &amp; Effects Analysis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Large Language Models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914400"/>
            <a:ext cx="2377440" cy="329184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051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Elements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20840" y="1344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B-Diagram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20840" y="1636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IFMEA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20840" y="1929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Functions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720840" y="2221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P-Diagram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20840" y="2514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Connections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20840" y="2807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Failure Modes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20840" y="30998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Causes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20840" y="33924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Risk Rating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20840" y="3685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Review &amp; Export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Revanth  |  Engineering Design  |  ED22B063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64008" cy="86868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DFMEA is a bottleneck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11680"/>
            <a:ext cx="64008" cy="86868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DFMEA?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4871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structure, and challenges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017520"/>
            <a:ext cx="64008" cy="86868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089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4930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design overview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02336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023360"/>
            <a:ext cx="64008" cy="86868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148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114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Wizard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498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generation workflow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100584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1005840"/>
            <a:ext cx="64008" cy="86868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0972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1097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IFMEA Integration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14813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failure analysis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01168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011680"/>
            <a:ext cx="64008" cy="86868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1031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Each Step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24871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prompting strategy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301752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017520"/>
            <a:ext cx="64008" cy="86868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1089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3108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Cases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34930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existing DFMEAs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00600" y="402336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4023360"/>
            <a:ext cx="64008" cy="86868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1148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49240" y="4114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37760" y="4498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quality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problem matter?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3840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Time-Intensive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automotive DFMEA for one sub-system takes 2–4 weeks of engineer time with manual analysis of every failure mode.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3840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Expert-Dependent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depends heavily on individual knowledge. Different engineers produce inconsistent DFMEAs for the same component.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611880"/>
            <a:ext cx="3840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Burden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design changes occur, the entire DFMEA must be reviewed and updated — a process that often gets skipped under schedule pressure.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6280" y="1143000"/>
            <a:ext cx="4206240" cy="3520440"/>
          </a:xfrm>
          <a:prstGeom prst="rect">
            <a:avLst/>
          </a:prstGeom>
          <a:solidFill>
            <a:srgbClr val="0F204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9160" y="17556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 reason about engineering systems — reading function statements, understanding failure mechanisms, and applying AIAG-VDA methodology.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670048"/>
            <a:ext cx="182880" cy="182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faster DFMEA generation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054096"/>
            <a:ext cx="182880" cy="182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methodology every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438144"/>
            <a:ext cx="182880" cy="182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update when design changes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822192"/>
            <a:ext cx="182880" cy="182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factors → causes automatically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4206240"/>
            <a:ext cx="182880" cy="182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4169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IFMEA generated from B-diagram connections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DFMEA?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Failure Mode &amp; Effects Analysis  ·  AIAG-VDA 2019 Standard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37744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wrong?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737360"/>
            <a:ext cx="457200" cy="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234440"/>
            <a:ext cx="2377440" cy="100584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98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457200" cy="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234440"/>
            <a:ext cx="237744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298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832104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Severity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bad is the effect?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(no effect) → 10 (hazardous)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2633472"/>
            <a:ext cx="0" cy="82296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Occurrence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51760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cause happen?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(unlikely) → 10 (certain)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633472"/>
            <a:ext cx="0" cy="82296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Detection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detect before customer?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(certain) → 10 (impossible)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2633472"/>
            <a:ext cx="0" cy="82296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= S × O × 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0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Priority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more critical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703320"/>
            <a:ext cx="8321040" cy="1143000"/>
          </a:xfrm>
          <a:prstGeom prst="rect">
            <a:avLst/>
          </a:prstGeom>
          <a:solidFill>
            <a:srgbClr val="0F20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DFMEA for an axle system produces 300+ rows, each requiring engineering knowledge about failure mechanisms, noise factors, effects, and quantitative risk ratings — all today done manually.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8221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automates this entire chain.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DFMEA Done in Industry?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systematic, mandatory quality process in automotive, aerospace, and defence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4480560" cy="841248"/>
          </a:xfrm>
          <a:prstGeom prst="rect">
            <a:avLst/>
          </a:prstGeom>
          <a:solidFill>
            <a:srgbClr val="132657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Liability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OEMs are legally obligated to demonstrate that potential failure modes were analysed before production. A missing DFMEA = no defence in product liability litigation.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103120"/>
            <a:ext cx="4480560" cy="841248"/>
          </a:xfrm>
          <a:prstGeom prst="rect">
            <a:avLst/>
          </a:prstGeom>
          <a:solidFill>
            <a:srgbClr val="132657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Customer Mandate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4688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16949, AIAG-VDA FMEA handbook (2019), and customer-specific requirements (Ford, GM, Stellantis) make DFMEA a contractual deliverable for every new part.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3063240"/>
            <a:ext cx="4480560" cy="841248"/>
          </a:xfrm>
          <a:prstGeom prst="rect">
            <a:avLst/>
          </a:prstGeom>
          <a:solidFill>
            <a:srgbClr val="132657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Validation &amp; Sign-off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34290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sign-off gates (DVP, PPAP, SOP) cannot be passed without a reviewed and approved DFMEA. No DFMEA = no production release.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4023360"/>
            <a:ext cx="4480560" cy="841248"/>
          </a:xfrm>
          <a:prstGeom prst="rect">
            <a:avLst/>
          </a:prstGeom>
          <a:solidFill>
            <a:srgbClr val="132657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Poor Quality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43891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failure found after launch costs 10–1000× more to fix than one caught in design. DFMEA identifies high-RPN risks early so countermeasures are built in, not bolted 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02352" y="1115568"/>
            <a:ext cx="3703320" cy="3749040"/>
          </a:xfrm>
          <a:prstGeom prst="rect">
            <a:avLst/>
          </a:prstGeom>
          <a:solidFill>
            <a:srgbClr val="0B1A3D"/>
          </a:solidFill>
          <a:ln w="6350">
            <a:solidFill>
              <a:srgbClr val="1E3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120700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DFMEA sits in product development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14416" y="1920240"/>
            <a:ext cx="0" cy="274320"/>
          </a:xfrm>
          <a:prstGeom prst="line">
            <a:avLst/>
          </a:prstGeom>
          <a:noFill/>
          <a:ln w="19050">
            <a:solidFill>
              <a:srgbClr val="2A4A8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376672" y="1682496"/>
            <a:ext cx="237744" cy="237744"/>
          </a:xfrm>
          <a:prstGeom prst="ellipse">
            <a:avLst/>
          </a:prstGeom>
          <a:solidFill>
            <a:srgbClr val="1E3A7A"/>
          </a:solidFill>
          <a:ln w="19050">
            <a:solidFill>
              <a:srgbClr val="2A4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16824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19019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DFMEA — identify critical functions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14416" y="2450592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76672" y="2212848"/>
            <a:ext cx="237744" cy="23774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22128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(DFMEA)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42432" y="24323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 analysis — RPN prioritisation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14416" y="2980944"/>
            <a:ext cx="0" cy="274320"/>
          </a:xfrm>
          <a:prstGeom prst="line">
            <a:avLst/>
          </a:prstGeom>
          <a:noFill/>
          <a:ln w="19050">
            <a:solidFill>
              <a:srgbClr val="2A4A8A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376672" y="2743200"/>
            <a:ext cx="237744" cy="237744"/>
          </a:xfrm>
          <a:prstGeom prst="ellipse">
            <a:avLst/>
          </a:prstGeom>
          <a:solidFill>
            <a:srgbClr val="1E3A7A"/>
          </a:solidFill>
          <a:ln w="19050">
            <a:solidFill>
              <a:srgbClr val="2A4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27432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42432" y="29626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 tests validate high-RPN causes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14416" y="3511296"/>
            <a:ext cx="0" cy="274320"/>
          </a:xfrm>
          <a:prstGeom prst="line">
            <a:avLst/>
          </a:prstGeom>
          <a:noFill/>
          <a:ln w="19050">
            <a:solidFill>
              <a:srgbClr val="2A4A8A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376672" y="3273552"/>
            <a:ext cx="237744" cy="237744"/>
          </a:xfrm>
          <a:prstGeom prst="ellipse">
            <a:avLst/>
          </a:prstGeom>
          <a:solidFill>
            <a:srgbClr val="1E3A7A"/>
          </a:solidFill>
          <a:ln w="19050">
            <a:solidFill>
              <a:srgbClr val="2A4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42432" y="32735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42432" y="3493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DFMEA updated from test findings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14416" y="4041648"/>
            <a:ext cx="0" cy="274320"/>
          </a:xfrm>
          <a:prstGeom prst="line">
            <a:avLst/>
          </a:prstGeom>
          <a:noFill/>
          <a:ln w="19050">
            <a:solidFill>
              <a:srgbClr val="2A4A8A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376672" y="3803904"/>
            <a:ext cx="237744" cy="237744"/>
          </a:xfrm>
          <a:prstGeom prst="ellipse">
            <a:avLst/>
          </a:prstGeom>
          <a:solidFill>
            <a:srgbClr val="1E3A7A"/>
          </a:solidFill>
          <a:ln w="19050">
            <a:solidFill>
              <a:srgbClr val="2A4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38039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PPAP / SOP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42432" y="40233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DFMEA submitted — production sign-off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76672" y="4334256"/>
            <a:ext cx="237744" cy="237744"/>
          </a:xfrm>
          <a:prstGeom prst="ellipse">
            <a:avLst/>
          </a:prstGeom>
          <a:solidFill>
            <a:srgbClr val="1E3A7A"/>
          </a:solidFill>
          <a:ln w="19050">
            <a:solidFill>
              <a:srgbClr val="2A4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42432" y="43342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service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42432" y="4553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data feeds back into next DFMEA revision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274320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React  ·  Tailwind CSS  ·  shadcn/ui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848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029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wizard UI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5054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B-Diagram SVG (drag &amp; connect)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9809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Matrix (P/E/I/M, −2 to +2)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456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RPN calculation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 export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960120"/>
            <a:ext cx="2743200" cy="50292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37560" y="1463040"/>
            <a:ext cx="274320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Python  ·  9 specialised routers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196596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0" y="2084832"/>
            <a:ext cx="128016" cy="128016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2029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generation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2560320"/>
            <a:ext cx="128016" cy="128016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25054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generation (per noise factor)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0" y="3035808"/>
            <a:ext cx="128016" cy="128016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29809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&amp; severity rating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0" y="3511296"/>
            <a:ext cx="128016" cy="128016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5032" y="3456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IFMEA interface causes &amp; effects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0" y="3986784"/>
            <a:ext cx="128016" cy="128016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5032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 connection suggest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960120"/>
            <a:ext cx="27432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63640" y="1463040"/>
            <a:ext cx="274320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 ·  Claude Sonnet  ·  ap-south-1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196596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0" y="2084832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1112" y="2029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prompts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0" y="256032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11112" y="25054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AIAG-VDA rubric injected into each prompt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303580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1112" y="29809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per (mode × noise × element)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0" y="3511296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11112" y="3456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S/O/D assignment endpoint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0" y="3986784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11112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DFMEA xlsx parser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172968" y="292608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99048" y="292608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10-Step Generation Wizard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guided by AI — the engineer reviews, edits, and approves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438912" cy="438912"/>
          </a:xfrm>
          <a:prstGeom prst="ellipse">
            <a:avLst/>
          </a:prstGeom>
          <a:solidFill>
            <a:srgbClr val="1A5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8408" y="1152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lower, focus &amp; higher-level elements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609344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11480" y="1956816"/>
            <a:ext cx="438912" cy="438912"/>
          </a:xfrm>
          <a:prstGeom prst="ellipse">
            <a:avLst/>
          </a:prstGeom>
          <a:solidFill>
            <a:srgbClr val="1A5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B-Diagram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2185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connections (P/E/I/M) between elements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2395728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11480" y="2743200"/>
            <a:ext cx="438912" cy="438912"/>
          </a:xfrm>
          <a:prstGeom prst="ellipse">
            <a:avLst/>
          </a:prstGeom>
          <a:solidFill>
            <a:srgbClr val="1A5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IFMEA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failure analysis from connections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182112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11480" y="3529584"/>
            <a:ext cx="438912" cy="438912"/>
          </a:xfrm>
          <a:prstGeom prst="ellipse">
            <a:avLst/>
          </a:prstGeom>
          <a:solidFill>
            <a:srgbClr val="1A5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8408" y="3511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3758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functions per element (auto-seeded)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" y="3968496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11480" y="4315968"/>
            <a:ext cx="438912" cy="438912"/>
          </a:xfrm>
          <a:prstGeom prst="ellipse">
            <a:avLst/>
          </a:prstGeom>
          <a:solidFill>
            <a:srgbClr val="1A5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315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" y="4297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P-Diagram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8408" y="4544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factors driving all cause generation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117043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67528" y="1152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67528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lower→focus→higher functions (AI-suggested)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10912" y="1609344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800600" y="1956816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67528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67528" y="2185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modes per focus function (LLM)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10912" y="2395728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00600" y="274320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67528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Causes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67528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× lower fn × noise factor → 1 cause each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10912" y="3182112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800600" y="3529584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67528" y="3511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67528" y="3758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&amp; D ratings — manual or Auto-assign (LLM)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10912" y="3968496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800600" y="431596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315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67528" y="4297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Export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67528" y="4544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edit, severity input, CSV/XLSX export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Cause Generation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per (Failure Mode × Lower Function × Noise Factor) combination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Step 6)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554480"/>
            <a:ext cx="640080" cy="0"/>
          </a:xfrm>
          <a:prstGeom prst="line">
            <a:avLst/>
          </a:prstGeom>
          <a:noFill/>
          <a:ln w="19050">
            <a:solidFill>
              <a:srgbClr val="1A5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94560"/>
            <a:ext cx="256032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40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Function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Step 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560320"/>
            <a:ext cx="640080" cy="0"/>
          </a:xfrm>
          <a:prstGeom prst="line">
            <a:avLst/>
          </a:prstGeom>
          <a:noFill/>
          <a:ln w="19050">
            <a:solidFill>
              <a:srgbClr val="1A56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200400"/>
            <a:ext cx="256032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Factor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P-Diagram)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3566160"/>
            <a:ext cx="640080" cy="0"/>
          </a:xfrm>
          <a:prstGeom prst="line">
            <a:avLst/>
          </a:prstGeom>
          <a:noFill/>
          <a:ln w="19050">
            <a:solidFill>
              <a:srgbClr val="1A56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417320"/>
            <a:ext cx="2377440" cy="1691640"/>
          </a:xfrm>
          <a:prstGeom prst="rect">
            <a:avLst/>
          </a:prstGeom>
          <a:solidFill>
            <a:srgbClr val="0F2044"/>
          </a:solidFill>
          <a:ln w="19050">
            <a:solidFill>
              <a:srgbClr val="1A56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AIAG-VDA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rubric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2240280"/>
            <a:ext cx="6400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828800"/>
            <a:ext cx="214884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874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specific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cause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8366760" cy="1325880"/>
          </a:xfrm>
          <a:prstGeom prst="rect">
            <a:avLst/>
          </a:prstGeom>
          <a:solidFill>
            <a:srgbClr val="0F20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8587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"Axle system does not maintain suspension geometry"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fn: "Resist deformation under load" (Suspension Link Assembly)  ·  Noise: "Customer Usage: Overloading 150%"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708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Cause: "Suspension link assemblies break due to operating with overloading (150%), exceeding design yield strength"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IFMEA — Interface Failure Mode &amp; Effects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failures IN the connection between elements — not inside either element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3931920" cy="45720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DFMEA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673352"/>
            <a:ext cx="128016" cy="128016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627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of focus element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" y="2084832"/>
            <a:ext cx="128016" cy="128016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039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in lower element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" y="2496312"/>
            <a:ext cx="128016" cy="128016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450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higher element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" y="2907792"/>
            <a:ext cx="128016" cy="128016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8620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factors → causes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" y="3319272"/>
            <a:ext cx="128016" cy="128016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273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O, D, RPN per cause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097280"/>
            <a:ext cx="3931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IFMEA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17720" y="155448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82312" y="167335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1627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failure modes (reused)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82312" y="20848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039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IN the interface itself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82312" y="249631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2450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higher-level function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82312" y="290779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28620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factors → interface causes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82312" y="331927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3273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effect (S, O, D, RPN)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041648"/>
            <a:ext cx="8321040" cy="89611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IFMEA Phases: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4370832"/>
            <a:ext cx="1920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3891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Interface Matrix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(−2 to +2 per type)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14600" y="4599432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24328" y="4370832"/>
            <a:ext cx="1920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24328" y="43891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(nominal transfer + modes)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44568" y="4599432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54296" y="4370832"/>
            <a:ext cx="1920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4296" y="43891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Causes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(noise × interface mech)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74536" y="4599432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84264" y="4370832"/>
            <a:ext cx="1920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84264" y="43891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Rate &amp; 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(O, D → RPN)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Cases — Reusing Existing DFMEAs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xlsx parser supports AIAG-VDA 2019 and legacy Ford/GM formats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274320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1338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New Design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4048" y="15544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" y="18470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blank slate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3063240"/>
            <a:ext cx="2743200" cy="160020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30906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" y="3355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Define all elements &amp; functions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" y="3675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Draw B-Diagram connections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" y="3995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Enter noise factors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" y="43159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Generate everything from scratch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28416" y="1097280"/>
            <a:ext cx="274320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1338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New Use Case / Environment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28416" y="15544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38144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38144" y="18470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Element names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38144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functions (lower/focus/higher)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38144" y="2487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Old noise factors shown for reference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28416" y="3063240"/>
            <a:ext cx="2743200" cy="160020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38144" y="30906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38144" y="3355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Enter new noise factors in P-Diagram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38144" y="3675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Draw B-Diagram connections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38144" y="3995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Regenerate causes for new conditions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72784" y="1097280"/>
            <a:ext cx="2743200" cy="438912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11338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Design Change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72784" y="15544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82512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82512" y="18470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Element names &amp; all functions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82512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Noise factors (environment unchanged)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82512" y="2487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B-Diagram boxes (no connections)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72784" y="3063240"/>
            <a:ext cx="2743200" cy="160020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0906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82512" y="3355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Re-draw connections for new design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82512" y="3675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Re-generate failure modes &amp; causes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82512" y="3995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Re-rate risk for changed components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 &amp; 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709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DFMEA rows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87752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87752" y="10515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587752" y="1709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64024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64024" y="10515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764024" y="1709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per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cause row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0296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0296" y="10515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940296" y="1709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DFMEA formats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(import)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468880"/>
            <a:ext cx="8321040" cy="96012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produces: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816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DFMEA table (S/O/D/RPN/AP per row)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2999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IFMEA table (interface causes + higher-fn effect)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182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Interface Matrix (P/E/I/M ratings)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816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B-Diagram SVG / PNG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999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XLSX export (AIAG-VDA template)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611880"/>
            <a:ext cx="8321040" cy="1252728"/>
          </a:xfrm>
          <a:prstGeom prst="rect">
            <a:avLst/>
          </a:prstGeom>
          <a:solidFill>
            <a:srgbClr val="0F20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0050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40050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React, Tailwind CSS, shadcn/ui, Framer Motion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206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91640" y="4206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Python, 9 specialised routers, LLM client wrapper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407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91640" y="44074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(Claude 3.5 Sonnet), ap-south-1, structured JSON prompts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608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46085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xlsx parser — AIAG-VDA 2019 + legacy Ford/GM, LLM extraction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6576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3090672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AI-powered DFMEA &amp; IFMEA generator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438144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3924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guided wizard — elements to risk rating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785616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739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AIAG-VDA 2019 compliant 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133088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4087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import modes for reusing existing DFMEAs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480560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on AWS Bedrock ap-south-1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Revanth  ·  Engineering Design  ·  ED22B063  ·  IIT Madras  ·  Ashok Leyland Internship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DFMEA Generator</dc:title>
  <dc:subject>PptxGenJS Presentation</dc:subject>
  <dc:creator>PptxGenJS</dc:creator>
  <cp:lastModifiedBy>PptxGenJS</cp:lastModifiedBy>
  <cp:revision>1</cp:revision>
  <dcterms:created xsi:type="dcterms:W3CDTF">2026-05-11T09:17:01Z</dcterms:created>
  <dcterms:modified xsi:type="dcterms:W3CDTF">2026-05-11T09:17:01Z</dcterms:modified>
</cp:coreProperties>
</file>